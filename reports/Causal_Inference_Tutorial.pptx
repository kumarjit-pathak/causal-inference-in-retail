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Causal Inference for Retail Promotions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4D8"/>
                </a:solidFill>
                <a:latin typeface="Calibri Light"/>
              </a:defRPr>
            </a:pPr>
            <a:r>
              <a:t>A Complete Technical 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4 Indian Cities  |  100 SKUs  |  3 Years of Weekly Data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DoWhy + EconML  |  DAGs + Double Machine Learning</a:t>
            </a:r>
          </a:p>
          <a:p>
            <a:pPr algn="l">
              <a:spcAft>
                <a:spcPts val="960"/>
              </a:spcAft>
              <a:defRPr sz="1600" b="0">
                <a:solidFill>
                  <a:srgbClr val="6C757D"/>
                </a:solidFill>
                <a:latin typeface="Calibri"/>
              </a:defRPr>
            </a:pPr>
            <a:r>
              <a:t>From Correlation to Causation to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Target Audience: Data Scientists &amp; ML Engineers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188720"/>
            <a:ext cx="502920" cy="5029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70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Why Causal Inference?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481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The correlation trap and why standard ML fails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691640"/>
            <a:ext cx="27432" cy="2468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38528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Causal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3113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DAGs, Backdoor Criterion, d-separation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2441448"/>
            <a:ext cx="27432" cy="2468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688336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70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&amp; Experimental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809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Synthetic data with known causal 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191256"/>
            <a:ext cx="27432" cy="2468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438144"/>
            <a:ext cx="502920" cy="5029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19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Estimation 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30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DoWhy, DML, CausalForest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3941064"/>
            <a:ext cx="27432" cy="2468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187952"/>
            <a:ext cx="502920" cy="5029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1696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Results &amp;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City-level uplift, CATE, winning combos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4690872"/>
            <a:ext cx="27432" cy="2468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4400" y="493776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19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Robustness &amp; Sensitivity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30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Refutation, confounder omission, stability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5440680"/>
            <a:ext cx="27432" cy="2468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5687568"/>
            <a:ext cx="502920" cy="50292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Strategic 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9801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C757D"/>
                </a:solidFill>
                <a:latin typeface="Calibri"/>
              </a:defRPr>
            </a:pPr>
            <a:r>
              <a:t>Actionable playbook by city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188720"/>
            <a:ext cx="3657600" cy="502920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Project At a Glance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62,400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057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Observations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670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715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Treatment Levers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3284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3741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Indian Cities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9867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156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4032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Weeks (3 Years)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645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690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SKUs Analyzed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96C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757D"/>
                </a:solidFill>
                <a:latin typeface="Calibri"/>
              </a:defRPr>
            </a:pPr>
            <a:r>
              <a:t>Robustness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 Light"/>
              </a:defRPr>
            </a:pPr>
            <a:r>
              <a:t>Why Causal Inference?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The Correlation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32004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1645920"/>
            <a:ext cx="822960" cy="8229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Confounding</a:t>
            </a:r>
            <a:br/>
            <a:r>
              <a:t>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High-equity brands get more promos AND sell more.</a:t>
            </a:r>
            <a:br/>
            <a:r>
              <a:t>Naive models attribute the brand effect to the promotion.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474720" cy="32004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19" y="1645920"/>
            <a:ext cx="822960" cy="8229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Simpson's</a:t>
            </a:r>
            <a:br/>
            <a:r>
              <a:t>Paradox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291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A discount looks effective overall but harmful in every city</a:t>
            </a:r>
            <a:br/>
            <a:r>
              <a:t>-- because discounts cluster in high-sales cities.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8" y="1371600"/>
            <a:ext cx="3474720" cy="32004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09758" y="1645920"/>
            <a:ext cx="822960" cy="8229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2651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Selection</a:t>
            </a:r>
            <a:br/>
            <a:r>
              <a:t>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32918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Stores with displays are already top performers.</a:t>
            </a:r>
            <a:br/>
            <a:r>
              <a:t>The 'display effect' is partly pre-existing advantage.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Causal inference solves this by formally identifying and adjusting for confounding paths.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The Bias We're Correcting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3200400" cy="50292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C7"/>
                </a:solidFill>
                <a:latin typeface="Calibri"/>
              </a:defRPr>
            </a:pPr>
            <a:r>
              <a:t>Treatment Lever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2011680" cy="50292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7E22"/>
                </a:solidFill>
                <a:latin typeface="Calibri"/>
              </a:defRPr>
            </a:pPr>
            <a:r>
              <a:t>Naive 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371600"/>
            <a:ext cx="2011680" cy="50292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Causal 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371600"/>
            <a:ext cx="2011680" cy="50292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417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874520"/>
            <a:ext cx="32004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9385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discount_depth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87452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520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187452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468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87452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938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-10.0%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423160"/>
            <a:ext cx="32004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2487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is_instore_display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42316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487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195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42316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487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164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42316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487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-15.9%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2971800"/>
            <a:ext cx="32004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035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local_channel_promo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97180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035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97180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035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79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297180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3035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-19.4%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3520440"/>
            <a:ext cx="32004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sms_blast_active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352044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110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52044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83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52044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3584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-24.5%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4069080"/>
            <a:ext cx="32004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41330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loyalty_topup_discount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406908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4133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0" y="406908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4133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151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406908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4133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-16.1%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4617720"/>
            <a:ext cx="32004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46817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special_coupon_usage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0" y="461772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4681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260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461772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4681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215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95360" y="4617720"/>
            <a:ext cx="20116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0" y="46817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-17.3%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5166360"/>
            <a:ext cx="32004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" y="5230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is_2x_points_active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516636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0" y="5230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516636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0" y="5230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5360" y="5166360"/>
            <a:ext cx="20116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95360" y="5230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-31.8%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371600" y="5394960"/>
            <a:ext cx="9235440" cy="82296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45920" y="54864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Calibri"/>
              </a:defRPr>
            </a:pPr>
            <a:r>
              <a:t>Every naive estimate is inflated by confounding. Smaller true effects have larger proportional bias (2x Points: 32% overstated).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 Light"/>
              </a:defRPr>
            </a:pPr>
            <a:r>
              <a:t>The Causal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Potential Outcomes Framework (Neyman-Rubin)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For each store-week observation i :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  Y_i(1)  =  Sales if treated (e.g., SMS sent)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  Y_i(0)  =  Sales if NOT treated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Individual Treatment Effect: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  ITE_i  =  Y_i(1) - Y_i(0)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Average Treatment Effect: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  ATE  =  E[Y(1)] - E[Y(0)]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The Fundamental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We NEVER observe both Y(1) and Y(0)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for the same unit at the same time.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55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One potential outcome is always</a:t>
            </a:r>
          </a:p>
          <a:p>
            <a:pPr algn="l">
              <a:spcAft>
                <a:spcPts val="55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counterfactual -- we must estimate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Solution: Conditional Independence (Ignorability)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If we condition on the right set of confounders W, the treatment assignment becomes 'as-if random':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  Y(0), Y(1)  independent of  T  |  W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This allows us to estimate ATE = E[Y | T=1, W] - E[Y | T=0, W], averaged over W.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The DAG tells us exactly which variables belong in 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The Causal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8</a:t>
            </a:r>
          </a:p>
        </p:txBody>
      </p:sp>
      <p:pic>
        <p:nvPicPr>
          <p:cNvPr id="6" name="Picture 5" descr="dag_pub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676" y="1097280"/>
            <a:ext cx="796834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Backdoor Criterion &amp; d-Separation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22860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C7"/>
                </a:solidFill>
                <a:latin typeface="Calibri"/>
              </a:defRPr>
            </a:pPr>
            <a: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A -&gt; B -&gt;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Conditioning on B</a:t>
            </a:r>
            <a:br/>
            <a:r>
              <a:t>BLOCKS the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474720" cy="22860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Calibri"/>
              </a:defRPr>
            </a:pPr>
            <a:r>
              <a:t>Fork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A &lt;- B -&gt;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Conditioning on B</a:t>
            </a:r>
            <a:br/>
            <a:r>
              <a:t>BLOCKS the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22860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  <a:latin typeface="Calibri"/>
              </a:defRPr>
            </a:pPr>
            <a:r>
              <a:t>Collider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A -&gt; B &lt;-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Conditioning on B</a:t>
            </a:r>
            <a:br/>
            <a:r>
              <a:t>OPENS the path!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10972800" cy="256032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Pearl's Backdoor Criterion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A set Z satisfies the backdoor criterion if: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1. No node in Z is a descendant of T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2. Z blocks every backdoor path between T and Y</a:t>
            </a: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42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Conditioning on Z gives unbiased causal estimates.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27AE60"/>
                </a:solidFill>
                <a:latin typeface="Consolas"/>
              </a:defRPr>
            </a:pPr>
            <a:r>
              <a:t>Our adjustment set: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27AE60"/>
                </a:solidFill>
                <a:latin typeface="Consolas"/>
              </a:defRPr>
            </a:pPr>
            <a:r>
              <a:t>  Z = { brand_equity,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27AE60"/>
                </a:solidFill>
                <a:latin typeface="Consolas"/>
              </a:defRPr>
            </a:pPr>
            <a:r>
              <a:t>         competitor_price_index,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27AE60"/>
                </a:solidFill>
                <a:latin typeface="Consolas"/>
              </a:defRPr>
            </a:pPr>
            <a:r>
              <a:t>         seasonality_multiplier,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27AE60"/>
                </a:solidFill>
                <a:latin typeface="Consolas"/>
              </a:defRPr>
            </a:pPr>
            <a:r>
              <a:t>         is_festival_week,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27AE60"/>
                </a:solidFill>
                <a:latin typeface="Consolas"/>
              </a:defRPr>
            </a:pPr>
            <a:r>
              <a:t>         base_price, city_id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 Light"/>
              </a:defRPr>
            </a:pPr>
            <a:r>
              <a:t>Data &amp; 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Synthetic Data with Known Causal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164592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C7"/>
                </a:solidFill>
                <a:latin typeface="Calibri"/>
              </a:defRPr>
            </a:pPr>
            <a:r>
              <a:t>Why Synthetic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We know the TRUE causal effects by construction.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This lets us validate that our causal methods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actually recover the correct treatment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164592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Dataset Specifications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62,400 rows = 100 SKUs x 156 weeks x 4 cities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24 columns: 7 treatments, 6 confounders, 3 outcomes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Seed: np.random.seed(42) for full reproducibility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0972800" cy="32004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Embedded Non-Linear Interactions (Key Design Choices)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840479"/>
            <a:ext cx="164592" cy="164592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73075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SMS + Display Synergy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3075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D8"/>
                </a:solidFill>
                <a:latin typeface="Consolas"/>
              </a:defRPr>
            </a:pPr>
            <a:r>
              <a:t>synergy = 90 * sms_blast *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73075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+90 units when both active (36% above additive)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434839"/>
            <a:ext cx="164592" cy="16459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32511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Discount Saturation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2511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D8"/>
                </a:solidFill>
                <a:latin typeface="Consolas"/>
              </a:defRPr>
            </a:pPr>
            <a:r>
              <a:t>effect = 20*d - 0.3*d^2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32511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Quadratic: diminishing returns beyond 20%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029199"/>
            <a:ext cx="164592" cy="16459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91947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Loyalty 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91947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D8"/>
                </a:solidFill>
                <a:latin typeface="Consolas"/>
              </a:defRPr>
            </a:pPr>
            <a:r>
              <a:t>boost = 30 * is_2x * coupon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91947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2x Points amplifies coupon redemption effect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623559"/>
            <a:ext cx="164592" cy="164592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551383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Confounded 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5138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B4D8"/>
                </a:solidFill>
                <a:latin typeface="Consolas"/>
              </a:defRPr>
            </a:pPr>
            <a:r>
              <a:t>discount ~ brand_equity + festival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51383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High-equity brands get deeper discounts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Indian Festival Seasonality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2560320" cy="4572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161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Festival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2468880" cy="4572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161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3017520" cy="4572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2161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Primary Cities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188720"/>
            <a:ext cx="1828800" cy="4572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216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645920"/>
            <a:ext cx="25603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709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Diwali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4688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7099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Oct-Nov (wk 44-45)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645920"/>
            <a:ext cx="30175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709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Mumbai, Delhi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7099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194560"/>
            <a:ext cx="256032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2585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91E63"/>
                </a:solidFill>
                <a:latin typeface="Calibri"/>
              </a:defRPr>
            </a:pPr>
            <a:r>
              <a:t>Holi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2194560"/>
            <a:ext cx="24688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2585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March (wk 11-12)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194560"/>
            <a:ext cx="301752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2585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Delhi, Mumbai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194560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258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2743200"/>
            <a:ext cx="25603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807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Eid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2743200"/>
            <a:ext cx="24688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28072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Varies by year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743200"/>
            <a:ext cx="30175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28072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Hyderabad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743200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28072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291840"/>
            <a:ext cx="256032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3558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C7"/>
                </a:solidFill>
                <a:latin typeface="Calibri"/>
              </a:defRPr>
            </a:pPr>
            <a:r>
              <a:t>Pongal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291840"/>
            <a:ext cx="24688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33558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January (wk 2-3)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291840"/>
            <a:ext cx="301752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3355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Bengaluru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3291840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33558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3840480"/>
            <a:ext cx="25603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904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  <a:latin typeface="Calibri"/>
              </a:defRPr>
            </a:pPr>
            <a:r>
              <a:t>Christmas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3840480"/>
            <a:ext cx="24688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3904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December (wk 52)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3840480"/>
            <a:ext cx="30175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390448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All cities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840480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20" y="39044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4389120"/>
            <a:ext cx="256032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44531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alibri"/>
              </a:defRPr>
            </a:pPr>
            <a:r>
              <a:t>Ganesh Chaturthi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0" y="4389120"/>
            <a:ext cx="246888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74720" y="44531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Aug-Sep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4389120"/>
            <a:ext cx="301752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0" y="44531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Mumbai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61120" y="4389120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61120" y="4453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4937760"/>
            <a:ext cx="25603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4400" y="5001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B59B6"/>
                </a:solidFill>
                <a:latin typeface="Calibri"/>
              </a:defRPr>
            </a:pPr>
            <a:r>
              <a:t>Navratri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74720" y="4937760"/>
            <a:ext cx="246888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0" y="50017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October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4937760"/>
            <a:ext cx="301752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0" y="5001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All cities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20" y="4937760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61120" y="5001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0.8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14400" y="5486400"/>
            <a:ext cx="9875520" cy="73152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88720" y="5577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7E22"/>
                </a:solidFill>
                <a:latin typeface="Calibri"/>
              </a:defRPr>
            </a:pPr>
            <a:r>
              <a:t>Festival weeks amplify BOTH treatment propensity AND base sales, creating seasonal confounding that must be controlled for.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 Light"/>
              </a:defRPr>
            </a:pPr>
            <a:r>
              <a:t>Estimation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DoWhy: The 4-Step Causal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743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1645920"/>
            <a:ext cx="731520" cy="731520"/>
          </a:xfrm>
          <a:prstGeom prst="ellipse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Define the causal DAG</a:t>
            </a:r>
            <a:br/>
            <a:r>
              <a:t>(nodes + directed edges)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51760" cy="2743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IDENTIFY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Find estimand via</a:t>
            </a:r>
            <a:br/>
            <a:r>
              <a:t>Backdoor Criterion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2651760" cy="2743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23760" y="164592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Compute ATE/CATE</a:t>
            </a:r>
            <a:br/>
            <a:r>
              <a:t>using regression/DML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371600"/>
            <a:ext cx="2651760" cy="2743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840" y="1645920"/>
            <a:ext cx="731520" cy="7315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7E22"/>
                </a:solidFill>
                <a:latin typeface="Calibri"/>
              </a:defRPr>
            </a:pPr>
            <a:r>
              <a:t>REFUTE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0175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Validate with placebo,</a:t>
            </a:r>
            <a:br/>
            <a:r>
              <a:t>random CC, subset 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19"/>
              </a:spcAft>
              <a:defRPr sz="1100" b="0">
                <a:solidFill>
                  <a:srgbClr val="00B4D8"/>
                </a:solidFill>
                <a:latin typeface="Consolas"/>
              </a:defRPr>
            </a:pPr>
            <a:r>
              <a:t>model = dowhy.CausalModel(data=df, treatment="discount_depth", outcome="sales_volume", graph=gml)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00B4D8"/>
                </a:solidFill>
                <a:latin typeface="Consolas"/>
              </a:defRPr>
            </a:pPr>
            <a:r>
              <a:t>estimand = model.identify_effect()              # Step 2: Backdoor identification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00B4D8"/>
                </a:solidFill>
                <a:latin typeface="Consolas"/>
              </a:defRPr>
            </a:pPr>
            <a:r>
              <a:t>estimate = model.estimate_effect(estimand,       # Step 3: Linear regression estimate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00B4D8"/>
                </a:solidFill>
                <a:latin typeface="Consolas"/>
              </a:defRPr>
            </a:pPr>
            <a:r>
              <a:t>               method_name="backdoor.linear_regression")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00B4D8"/>
                </a:solidFill>
                <a:latin typeface="Consolas"/>
              </a:defRPr>
            </a:pPr>
            <a:r>
              <a:t>refutation = model.refute_estimate(estimand, estimate,  # Step 4: Placebo test</a:t>
            </a:r>
          </a:p>
          <a:p>
            <a:pPr algn="l">
              <a:spcAft>
                <a:spcPts val="219"/>
              </a:spcAft>
              <a:defRPr sz="1100" b="0">
                <a:solidFill>
                  <a:srgbClr val="00B4D8"/>
                </a:solidFill>
                <a:latin typeface="Consolas"/>
              </a:defRPr>
            </a:pPr>
            <a:r>
              <a:t>               method_name="placebo_treatment_refuter")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Double Machine Learning (Chernozhukov et al., 2018)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474720" cy="292608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C7"/>
                </a:solidFill>
                <a:latin typeface="Calibri"/>
              </a:defRPr>
            </a:pPr>
            <a:r>
              <a:t>Residualize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Y_res = Y - E[Y|W]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Remove confounder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effects from outcome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using ML (GBM)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88720"/>
            <a:ext cx="3474720" cy="292608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7E22"/>
                </a:solidFill>
                <a:latin typeface="Calibri"/>
              </a:defRPr>
            </a:pPr>
            <a:r>
              <a:t>Residualize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T_res = T - E[T|W]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Remove confounder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effects from treatment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using ML (GBM)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C757D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474720" cy="292608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Causal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Y_res = theta * T_res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theta is the CAUSAL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effect, immune to</a:t>
            </a:r>
          </a:p>
          <a:p>
            <a:pPr algn="ctr">
              <a:spcAft>
                <a:spcPts val="259"/>
              </a:spcAft>
              <a:defRPr sz="1300" b="0">
                <a:solidFill>
                  <a:srgbClr val="CCCCDD"/>
                </a:solidFill>
                <a:latin typeface="Consolas"/>
              </a:defRPr>
            </a:pPr>
            <a:r>
              <a:t>regularization bias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80560"/>
            <a:ext cx="11247120" cy="201168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Why DML over Plain Regression?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Handles non-linear confounding (ML first stage handles complexity)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Valid confidence intervals via Neyman-orthogonal construction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Cross-fitting prevents overfitting bias in high dimensions</a:t>
            </a:r>
          </a:p>
          <a:p>
            <a:pPr algn="l">
              <a:spcAft>
                <a:spcPts val="39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•  Automatic heterogeneous effects (CATE) via effect modifiers 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CausalForest vs LinearDML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36576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  <a:latin typeface="Calibri"/>
              </a:defRPr>
            </a:pPr>
            <a:r>
              <a:t>LinearDML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Effect is LINEAR in X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theta(x) = beta_0 + beta_1 * x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Fast, interpretable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Best for: known effect modifiers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Our use: multi-treatment 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36576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CausalForestDML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Effect is NON-LINEAR in X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theta(x) = learned tree ensemble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Flexible, less interpretable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Best for: discovering heterogeneity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•  Our use: binary treatment 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10972800" cy="109728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Gotchas: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39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model_t MUST be a regressor (not classifier) -- even for binary T.  |  n_estimators must be divisible by subforest_size (4).  |  Multi-treatment: wrap model_t in MultiOutputRegressor().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 Light"/>
              </a:defRPr>
            </a:pPr>
            <a:r>
              <a:t>Results &amp;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City-Level Causal Uplift (ATE)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18</a:t>
            </a:r>
          </a:p>
        </p:txBody>
      </p:sp>
      <p:pic>
        <p:nvPicPr>
          <p:cNvPr id="6" name="Picture 5" descr="city_uplif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70" y="1097280"/>
            <a:ext cx="1080215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Treatment Effect Heterogeneity (CATE by City)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19</a:t>
            </a:r>
          </a:p>
        </p:txBody>
      </p:sp>
      <p:pic>
        <p:nvPicPr>
          <p:cNvPr id="6" name="Picture 5" descr="cat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30" y="1097280"/>
            <a:ext cx="96764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Winning Combination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20</a:t>
            </a:r>
          </a:p>
        </p:txBody>
      </p:sp>
      <p:pic>
        <p:nvPicPr>
          <p:cNvPr id="6" name="Picture 5" descr="winning_comb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61" y="1097280"/>
            <a:ext cx="8818172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486400"/>
            <a:ext cx="10972800" cy="82296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7E22"/>
                </a:solidFill>
                <a:latin typeface="Calibri"/>
              </a:defRPr>
            </a:pPr>
            <a:r>
              <a:t>Stars mark the top-performing lever per city. Discount Depth dominates volume, but erodes revenue. SMS + Display synergy yields +90 bonus units (36% above additive) -- always pair them together.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The Volume vs. Revenue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Calibri"/>
              </a:defRPr>
            </a:pPr>
            <a:r>
              <a:t>Volume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Coupon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+470 units/week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Highest &amp; most 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Discount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249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+468 units/pct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99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74C3C"/>
                </a:solidFill>
                <a:latin typeface="Calibri"/>
              </a:defRPr>
            </a:pPr>
            <a:r>
              <a:t>BUT destroys revenue!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38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In-Store 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381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+164 units/week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124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Also boosts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513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Loyalty Top-Up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1513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+151 units/week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425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Moderate, consistent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64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 SMS Blast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64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+83 units/week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1389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Calibri"/>
              </a:defRPr>
            </a:pPr>
            <a:r>
              <a:t>Best paired with Display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303520" cy="475488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74C3C"/>
                </a:solidFill>
                <a:latin typeface="Calibri"/>
              </a:defRPr>
            </a:pPr>
            <a:r>
              <a:t>Revenue Impact Warning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031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Discount Depth: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Volume ATE:  +468 units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Revenue ATE: -70,000 INR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The margin erosion FAR outweighs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the volume gain at scale.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In contrast, In-Store Display: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Volume ATE:  +164 units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  Revenue ATE: +20,000 INR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Display is the most BALANCED lever:</a:t>
            </a:r>
          </a:p>
          <a:p>
            <a:pPr algn="l">
              <a:spcAft>
                <a:spcPts val="279"/>
              </a:spcAft>
              <a:defRPr sz="1400" b="0">
                <a:solidFill>
                  <a:srgbClr val="CCCCDD"/>
                </a:solidFill>
                <a:latin typeface="Calibri"/>
              </a:defRPr>
            </a:pPr>
            <a:r>
              <a:t>drives both volume AND revenue.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 Light"/>
              </a:defRPr>
            </a:pPr>
            <a:r>
              <a:t>Robustness &amp; Sensitivity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Robustness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23</a:t>
            </a:r>
          </a:p>
        </p:txBody>
      </p:sp>
      <p:pic>
        <p:nvPicPr>
          <p:cNvPr id="6" name="Picture 5" descr="robustness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68" y="1097280"/>
            <a:ext cx="9276159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572000"/>
            <a:ext cx="3474720" cy="182880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Placebo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Randomly permute treatment. If effect drops to ~0, the original was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572000"/>
            <a:ext cx="3474720" cy="182880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Random Common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Add random noise confounder. If ATE barely changes (&lt;5%), estimate is robust.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474720" cy="182880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663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Data Subset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834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Re-estimate on 70% subsample. If ATE is stable (&lt;5% change), not driven by outliers.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Confounder Sensitivity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24</a:t>
            </a:r>
          </a:p>
        </p:txBody>
      </p:sp>
      <p:pic>
        <p:nvPicPr>
          <p:cNvPr id="6" name="Picture 5" descr="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277" y="1097280"/>
            <a:ext cx="10195141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120640"/>
            <a:ext cx="10972800" cy="1188720"/>
          </a:xfrm>
          <a:prstGeom prst="roundRect">
            <a:avLst/>
          </a:prstGeom>
          <a:solidFill>
            <a:srgbClr val="141425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t>Brand equity is the most critical confounder -- omitting it shifts Discount Depth ATE by 35%.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t>In-Store Display and Coupon Usage are robust to confounder omission (&lt;3% shift).</a:t>
            </a:r>
          </a:p>
          <a:p>
            <a:pPr algn="l">
              <a:spcAft>
                <a:spcPts val="519"/>
              </a:spcAft>
              <a:defRPr sz="1300" b="0">
                <a:solidFill>
                  <a:srgbClr val="E74C3C"/>
                </a:solidFill>
                <a:latin typeface="Calibri"/>
              </a:defRPr>
            </a:pPr>
            <a:r>
              <a:t>Any production model MUST include brand equity as a control variable.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CATE Cross-Split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2286000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17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1828800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Split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1828800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Split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71600"/>
            <a:ext cx="1828800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Split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1371600"/>
            <a:ext cx="1371600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417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CV%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874519"/>
            <a:ext cx="22860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194767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C7"/>
                </a:solidFill>
                <a:latin typeface="Calibri"/>
              </a:defRPr>
            </a:pPr>
            <a:r>
              <a:t>Mumbai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1874519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9476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163.0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874519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476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165.5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874519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4767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1874519"/>
            <a:ext cx="13716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194767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1.6%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2423159"/>
            <a:ext cx="22860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249631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C7"/>
                </a:solidFill>
                <a:latin typeface="Calibri"/>
              </a:defRPr>
            </a:pPr>
            <a:r>
              <a:t>Bengaluru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423159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249631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166.4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23159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49631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163.0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423159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49631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169.8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2423159"/>
            <a:ext cx="13716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249631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2.0%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971799"/>
            <a:ext cx="22860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30449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C7"/>
                </a:solidFill>
                <a:latin typeface="Calibri"/>
              </a:defRPr>
            </a:pPr>
            <a:r>
              <a:t>Delhi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2971799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304495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165.5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971799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04495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166.8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971799"/>
            <a:ext cx="18288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04495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164.3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2971799"/>
            <a:ext cx="1371600" cy="50292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304495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0.8%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520439"/>
            <a:ext cx="22860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35935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C7"/>
                </a:solidFill>
                <a:latin typeface="Calibri"/>
              </a:defRPr>
            </a:pPr>
            <a:r>
              <a:t>Hyderabad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3520439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35935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163.3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20439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935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162.5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520439"/>
            <a:ext cx="18288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359359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164.2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3520439"/>
            <a:ext cx="1371600" cy="502920"/>
          </a:xfrm>
          <a:prstGeom prst="rect">
            <a:avLst/>
          </a:prstGeom>
          <a:solidFill>
            <a:srgbClr val="17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0" y="359359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0.5%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28800" y="4206240"/>
            <a:ext cx="8503920" cy="109728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0" y="43434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7AE60"/>
                </a:solidFill>
                <a:latin typeface="Calibri"/>
              </a:defRPr>
            </a:pPr>
            <a:r>
              <a:t>All CV% values are well below 20%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3120" y="47548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DD"/>
                </a:solidFill>
                <a:latin typeface="Calibri"/>
              </a:defRPr>
            </a:pPr>
            <a:r>
              <a:t>CATE estimates from CausalForestDML are highly stable across independent data splits.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  <a:latin typeface="Calibri Light"/>
              </a:defRPr>
            </a:pPr>
            <a:r>
              <a:t>Strategic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City-Specific Promotional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2743200" cy="5029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Mumbai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EE"/>
                </a:solidFill>
                <a:latin typeface="Calibri"/>
              </a:defRPr>
            </a:pPr>
            <a:r>
              <a:t>Highest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Primary: Coupons (224) + Display (163)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Synergy: SMS + Display during Ganesh Chaturthi &amp; Diwali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Avoid: Deep discounts &gt;20% (revenue destructive)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88720"/>
            <a:ext cx="2743200" cy="5029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188720"/>
            <a:ext cx="2743200" cy="7315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234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Bengaluru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EE"/>
                </a:solidFill>
                <a:latin typeface="Calibri"/>
              </a:defRPr>
            </a:pPr>
            <a:r>
              <a:t>Tech-Savvy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9456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Primary: Coupons (219) + Display (164)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Digital: Consider app-based targeting over SMS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Festival: Pongal week for max seasonal amplification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2743200" cy="5029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27432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34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Delhi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EE"/>
                </a:solidFill>
                <a:latin typeface="Calibri"/>
              </a:defRPr>
            </a:pPr>
            <a:r>
              <a:t>Northern 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Primary: Coupons (215) + Display (165)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Synergy: SMS + Display during Diwali &amp; Holi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Cost play: Local Channel Promo highest CATE here (85)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188720"/>
            <a:ext cx="2743200" cy="5029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188720"/>
            <a:ext cx="2743200" cy="731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234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Hyderabad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DDEE"/>
                </a:solidFill>
                <a:latin typeface="Calibri"/>
              </a:defRPr>
            </a:pPr>
            <a:r>
              <a:t>Emerging 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9456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Primary: Coupons (211) + SMS Blast (96)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Festival: Eid &amp; Bonalu for maximum impact</a:t>
            </a:r>
          </a:p>
          <a:p>
            <a:pPr algn="l">
              <a:spcAft>
                <a:spcPts val="660"/>
              </a:spcAft>
              <a:defRPr sz="1100" b="0">
                <a:solidFill>
                  <a:srgbClr val="CCCCDD"/>
                </a:solidFill>
                <a:latin typeface="Calibri"/>
              </a:defRPr>
            </a:pPr>
            <a:r>
              <a:t>&gt;  Growth: Loyalty programs show above-avg response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91695" cy="868680"/>
          </a:xfrm>
          <a:prstGeom prst="rect">
            <a:avLst/>
          </a:prstGeom>
          <a:solidFill>
            <a:srgbClr val="141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t>Action Items: Do's and Don'ts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217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C757D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5029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7AE60"/>
                </a:solidFill>
                <a:latin typeface="Calibri"/>
              </a:defRPr>
            </a:pPr>
            <a:r>
              <a:t>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+  Pair SMS + In-Store Display in all cities (+90 unit synergy)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+  Cap discount depth at 15% (saturation beyond this point)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+  Increase coupon distribution in Mumbai &amp; Delhi (highest CATE)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+  Activate 2x Points during festival weeks (cost-effective amplifier)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+  Shift budget from discounts to In-Store Display (volume + revenue)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+  Build city-specific promotional calendars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14142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74C3C"/>
                </a:solidFill>
                <a:latin typeface="Calibri"/>
              </a:defRPr>
            </a:pPr>
            <a: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4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X  Run deep discounts (&gt;20%) for revenue targets -- they destroy value</a:t>
            </a:r>
          </a:p>
          <a:p>
            <a:pPr algn="l">
              <a:spcAft>
                <a:spcPts val="104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X  Run standalone SMS without Display pairing -- 3x less effective</a:t>
            </a:r>
          </a:p>
          <a:p>
            <a:pPr algn="l">
              <a:spcAft>
                <a:spcPts val="104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X  Apply uniform promotions across cities -- CATE varies 10-15%</a:t>
            </a:r>
          </a:p>
          <a:p>
            <a:pPr algn="l">
              <a:spcAft>
                <a:spcPts val="1040"/>
              </a:spcAft>
              <a:defRPr sz="1300" b="0">
                <a:solidFill>
                  <a:srgbClr val="CCCCDD"/>
                </a:solidFill>
                <a:latin typeface="Calibri"/>
              </a:defRPr>
            </a:pPr>
            <a:r>
              <a:t>X  Omit brand equity from targeting models -- causes 35% bias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 Light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5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Tech Stack:  DoWhy  |  EconML  |  scikit-learn  |  pandas  |  matplotlib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Methods:  DAGs  |  Backdoor Criterion  |  Double Machine Learning  |  CausalForest</a:t>
            </a:r>
          </a:p>
          <a:p>
            <a:pPr algn="ctr">
              <a:spcAft>
                <a:spcPts val="65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Repo:  scripts/ + notebooks/ + reports/  |  Fully reproducible (seed=42)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